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62"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B66A"/>
    <a:srgbClr val="102A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07" autoAdjust="0"/>
    <p:restoredTop sz="94610"/>
  </p:normalViewPr>
  <p:slideViewPr>
    <p:cSldViewPr snapToGrid="0" snapToObjects="1">
      <p:cViewPr varScale="1">
        <p:scale>
          <a:sx n="95" d="100"/>
          <a:sy n="95" d="100"/>
        </p:scale>
        <p:origin x="81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3032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histogram shows annual spending on each student. I used a log scale because spending ranges from hundreds to hundreds of thousands of rupees. The dashed lines are the median, Rs 6,600, and the 90th percentile, Rs 30,000. The weighted median is a little lower than the unweighted one, Rs 7,000, because higher-spending students come from households with slightly smaller survey weights. The 90th percentile is 15 times the 10th, so spending varies a lot between families.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 the left is R's default plot of literacy against age. Every person is a dot at 0 or 1, so thousands of dots overlap and no pattern is visible. On the right is my redesign. I made three changes. First, I used conditional means: the weighted literacy rate for each age band and sex. Second, I used a common vertical scale with two colours, because position is the easiest thing for the eye to compare. Third, I removed extra ink: no legend, labels directly on the lines, and a title that states the finding. The default shows every individual person, which my redesign hides.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My most important finding is about literacy by age. At 15 to 19, the gap is small: 73.1 percent of women and 79.8 percent of men can read. By 55 to 59 it is 35.8 points: 15 percent of women against about 51 percent of men. As an economist I read this as a generation effect, because older women had much less access to school. What the figure cannot tell us is whether literacy changes with age or only differs between birth cohorts, because it is a single survey year.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chemeClr val="tx2"/>
          </a:solidFill>
          <a:ln/>
        </p:spPr>
      </p:sp>
      <p:sp>
        <p:nvSpPr>
          <p:cNvPr id="3" name="Text 1"/>
          <p:cNvSpPr>
            <a:spLocks noGrp="1"/>
          </p:cNvSpPr>
          <p:nvPr>
            <p:ph type="title" idx="101" hasCustomPrompt="1"/>
          </p:nvPr>
        </p:nvSpPr>
        <p:spPr>
          <a:xfrm>
            <a:off x="457200" y="228600"/>
            <a:ext cx="8229600" cy="731520"/>
          </a:xfrm>
          <a:prstGeom prst="rect">
            <a:avLst/>
          </a:prstGeom>
          <a:noFill/>
          <a:ln/>
        </p:spPr>
        <p:txBody>
          <a:bodyPr wrap="square" rtlCol="0"/>
          <a:lstStyle>
            <a:lvl1pPr marL="0" indent="0">
              <a:buNone/>
              <a:defRPr lang="en-US" sz="2000" b="1" dirty="0">
                <a:solidFill>
                  <a:schemeClr val="tx2"/>
                </a:solidFill>
              </a:defRPr>
            </a:lvl1pPr>
          </a:lstStyle>
          <a:p>
            <a:pPr marL="0" indent="0">
              <a:buNone/>
            </a:pPr>
            <a:endParaRPr lang="en-US" sz="2000" dirty="0"/>
          </a:p>
        </p:txBody>
      </p:sp>
      <p:sp>
        <p:nvSpPr>
          <p:cNvPr id="4" name="Text 1"/>
          <p:cNvSpPr txBox="1"/>
          <p:nvPr/>
        </p:nvSpPr>
        <p:spPr>
          <a:xfrm>
            <a:off x="457200" y="4873752"/>
            <a:ext cx="8229600" cy="201168"/>
          </a:xfrm>
          <a:prstGeom prst="rect">
            <a:avLst/>
          </a:prstGeom>
          <a:noFill/>
          <a:ln/>
        </p:spPr>
        <p:txBody>
          <a:bodyPr wrap="square" lIns="0" tIns="0" rIns="0" bIns="0" rtlCol="0" anchor="ctr"/>
          <a:lstStyle/>
          <a:p>
            <a:pPr marL="0" indent="0">
              <a:buNone/>
            </a:pPr>
            <a:r>
              <a:rPr lang="en-US" sz="900" dirty="0">
                <a:solidFill>
                  <a:schemeClr val="accent3"/>
                </a:solidFill>
              </a:rPr>
              <a:t>ECO346 · Assignment 1 · FA24-BEDS-108 · Source: PSLM 2019-20, Punjab rural, weighted by hhweight</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1F3A5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097280"/>
            <a:ext cx="7863840" cy="1371600"/>
          </a:xfrm>
          <a:prstGeom prst="rect">
            <a:avLst/>
          </a:prstGeom>
          <a:noFill/>
          <a:ln/>
        </p:spPr>
        <p:txBody>
          <a:bodyPr wrap="square" rtlCol="0"/>
          <a:lstStyle>
            <a:lvl1pPr marL="0" indent="0">
              <a:buNone/>
              <a:defRPr lang="en-US" sz="3200" b="1" dirty="0">
                <a:solidFill>
                  <a:schemeClr val="bg1"/>
                </a:solidFill>
              </a:defRPr>
            </a:lvl1pPr>
          </a:lstStyle>
          <a:p>
            <a:pPr marL="0" indent="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Tree>
    <p:extLst>
      <p:ext uri="{BB962C8B-B14F-4D97-AF65-F5344CB8AC3E}">
        <p14:creationId xmlns:p14="http://schemas.microsoft.com/office/powerpoint/2010/main" val="310801573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28600"/>
            <a:ext cx="8229600" cy="731520"/>
          </a:xfrm>
          <a:prstGeom prst="rect">
            <a:avLst/>
          </a:prstGeom>
          <a:noFill/>
          <a:ln/>
        </p:spPr>
        <p:txBody>
          <a:bodyPr wrap="square" lIns="0" tIns="0" rIns="0" bIns="0" rtlCol="0" anchor="ctr"/>
          <a:lstStyle/>
          <a:p>
            <a:pPr marL="0" indent="0">
              <a:buNone/>
            </a:pPr>
            <a:r>
              <a:rPr lang="en-US" sz="2000" b="1" dirty="0">
                <a:solidFill>
                  <a:schemeClr val="tx2"/>
                </a:solidFill>
              </a:rPr>
              <a:t>Most households spend Rs 2,000 to Rs 30,000 a year on one student</a:t>
            </a:r>
            <a:endParaRPr lang="en-US" sz="2000" dirty="0"/>
          </a:p>
        </p:txBody>
      </p:sp>
      <p:sp>
        <p:nvSpPr>
          <p:cNvPr id="5" name="Card"/>
          <p:cNvSpPr/>
          <p:nvPr/>
        </p:nvSpPr>
        <p:spPr>
          <a:xfrm>
            <a:off x="5486400" y="1051560"/>
            <a:ext cx="3291840" cy="1097280"/>
          </a:xfrm>
          <a:prstGeom prst="rect">
            <a:avLst/>
          </a:prstGeom>
          <a:solidFill>
            <a:schemeClr val="bg2"/>
          </a:solidFill>
          <a:ln w="12700">
            <a:solidFill>
              <a:schemeClr val="bg2"/>
            </a:solidFill>
            <a:prstDash val="solid"/>
          </a:ln>
        </p:spPr>
      </p:sp>
      <p:sp>
        <p:nvSpPr>
          <p:cNvPr id="6" name="Shape 4"/>
          <p:cNvSpPr/>
          <p:nvPr/>
        </p:nvSpPr>
        <p:spPr>
          <a:xfrm>
            <a:off x="5486400" y="1051560"/>
            <a:ext cx="64008" cy="1097280"/>
          </a:xfrm>
          <a:prstGeom prst="rect">
            <a:avLst/>
          </a:prstGeom>
          <a:solidFill>
            <a:schemeClr val="accent1"/>
          </a:solidFill>
          <a:ln w="12700">
            <a:solidFill>
              <a:schemeClr val="accent1"/>
            </a:solidFill>
            <a:prstDash val="solid"/>
          </a:ln>
        </p:spPr>
      </p:sp>
      <p:sp>
        <p:nvSpPr>
          <p:cNvPr id="7" name="Text 5"/>
          <p:cNvSpPr txBox="1"/>
          <p:nvPr/>
        </p:nvSpPr>
        <p:spPr>
          <a:xfrm>
            <a:off x="5669280" y="1106424"/>
            <a:ext cx="3017520" cy="274320"/>
          </a:xfrm>
          <a:prstGeom prst="rect">
            <a:avLst/>
          </a:prstGeom>
          <a:noFill/>
          <a:ln/>
        </p:spPr>
        <p:txBody>
          <a:bodyPr wrap="square" lIns="0" tIns="0" rIns="0" bIns="0" rtlCol="0" anchor="ctr"/>
          <a:lstStyle/>
          <a:p>
            <a:pPr marL="0" indent="0">
              <a:buNone/>
            </a:pPr>
            <a:r>
              <a:rPr lang="en-US" sz="1300" b="1" dirty="0">
                <a:solidFill>
                  <a:schemeClr val="tx2"/>
                </a:solidFill>
              </a:rPr>
              <a:t>What the chart shows</a:t>
            </a:r>
            <a:endParaRPr lang="en-US" sz="1300" dirty="0"/>
          </a:p>
        </p:txBody>
      </p:sp>
      <p:sp>
        <p:nvSpPr>
          <p:cNvPr id="8" name="Text 6"/>
          <p:cNvSpPr txBox="1"/>
          <p:nvPr/>
        </p:nvSpPr>
        <p:spPr>
          <a:xfrm>
            <a:off x="5669280" y="1380744"/>
            <a:ext cx="3017520" cy="713232"/>
          </a:xfrm>
          <a:prstGeom prst="rect">
            <a:avLst/>
          </a:prstGeom>
          <a:noFill/>
          <a:ln/>
        </p:spPr>
        <p:txBody>
          <a:bodyPr wrap="square" lIns="0" tIns="0" rIns="0" bIns="0" rtlCol="0" anchor="t"/>
          <a:lstStyle/>
          <a:p>
            <a:pPr marL="0" indent="0">
              <a:buNone/>
            </a:pPr>
            <a:r>
              <a:rPr lang="en-US" sz="1100" dirty="0">
                <a:solidFill>
                  <a:schemeClr val="tx1"/>
                </a:solidFill>
              </a:rPr>
              <a:t>Each bar is a group of students with similar spending. Spending is shown on a log scale, so each step is 10 times bigger. There are two humps and a long tail of high spenders.</a:t>
            </a:r>
            <a:endParaRPr lang="en-US" sz="1100" dirty="0"/>
          </a:p>
        </p:txBody>
      </p:sp>
      <p:sp>
        <p:nvSpPr>
          <p:cNvPr id="9" name="Card"/>
          <p:cNvSpPr/>
          <p:nvPr/>
        </p:nvSpPr>
        <p:spPr>
          <a:xfrm>
            <a:off x="5486400" y="2240280"/>
            <a:ext cx="3291840" cy="1097280"/>
          </a:xfrm>
          <a:prstGeom prst="rect">
            <a:avLst/>
          </a:prstGeom>
          <a:solidFill>
            <a:schemeClr val="bg2"/>
          </a:solidFill>
          <a:ln w="12700">
            <a:solidFill>
              <a:schemeClr val="bg2"/>
            </a:solidFill>
            <a:prstDash val="solid"/>
          </a:ln>
        </p:spPr>
      </p:sp>
      <p:sp>
        <p:nvSpPr>
          <p:cNvPr id="10" name="Shape 8"/>
          <p:cNvSpPr/>
          <p:nvPr/>
        </p:nvSpPr>
        <p:spPr>
          <a:xfrm>
            <a:off x="5486400" y="2240280"/>
            <a:ext cx="64008" cy="1097280"/>
          </a:xfrm>
          <a:prstGeom prst="rect">
            <a:avLst/>
          </a:prstGeom>
          <a:solidFill>
            <a:schemeClr val="accent5"/>
          </a:solidFill>
          <a:ln w="12700">
            <a:solidFill>
              <a:schemeClr val="accent5"/>
            </a:solidFill>
            <a:prstDash val="solid"/>
          </a:ln>
        </p:spPr>
      </p:sp>
      <p:sp>
        <p:nvSpPr>
          <p:cNvPr id="11" name="Text 9"/>
          <p:cNvSpPr txBox="1"/>
          <p:nvPr/>
        </p:nvSpPr>
        <p:spPr>
          <a:xfrm>
            <a:off x="5669280" y="2295144"/>
            <a:ext cx="3017520" cy="274320"/>
          </a:xfrm>
          <a:prstGeom prst="rect">
            <a:avLst/>
          </a:prstGeom>
          <a:noFill/>
          <a:ln/>
        </p:spPr>
        <p:txBody>
          <a:bodyPr wrap="square" lIns="0" tIns="0" rIns="0" bIns="0" rtlCol="0" anchor="ctr"/>
          <a:lstStyle/>
          <a:p>
            <a:pPr marL="0" indent="0">
              <a:buNone/>
            </a:pPr>
            <a:r>
              <a:rPr lang="en-US" sz="1300" b="1" dirty="0">
                <a:solidFill>
                  <a:schemeClr val="tx2"/>
                </a:solidFill>
              </a:rPr>
              <a:t>The typical student</a:t>
            </a:r>
            <a:endParaRPr lang="en-US" sz="1300" dirty="0"/>
          </a:p>
        </p:txBody>
      </p:sp>
      <p:sp>
        <p:nvSpPr>
          <p:cNvPr id="12" name="Text 10"/>
          <p:cNvSpPr txBox="1"/>
          <p:nvPr/>
        </p:nvSpPr>
        <p:spPr>
          <a:xfrm>
            <a:off x="5669280" y="2569464"/>
            <a:ext cx="3017520" cy="713232"/>
          </a:xfrm>
          <a:prstGeom prst="rect">
            <a:avLst/>
          </a:prstGeom>
          <a:noFill/>
          <a:ln/>
        </p:spPr>
        <p:txBody>
          <a:bodyPr wrap="square" lIns="0" tIns="0" rIns="0" bIns="0" rtlCol="0" anchor="t"/>
          <a:lstStyle/>
          <a:p>
            <a:pPr marL="0" indent="0">
              <a:buNone/>
            </a:pPr>
            <a:r>
              <a:rPr lang="en-US" sz="1100" dirty="0">
                <a:solidFill>
                  <a:schemeClr val="tx1"/>
                </a:solidFill>
              </a:rPr>
              <a:t>The middle student costs Rs 6,600 a year: half of students cost less, half cost more. (Without weights it would be Rs 7,000.)</a:t>
            </a:r>
            <a:endParaRPr lang="en-US" sz="1100" dirty="0"/>
          </a:p>
        </p:txBody>
      </p:sp>
      <p:sp>
        <p:nvSpPr>
          <p:cNvPr id="13" name="Card"/>
          <p:cNvSpPr/>
          <p:nvPr/>
        </p:nvSpPr>
        <p:spPr>
          <a:xfrm>
            <a:off x="5486400" y="3459145"/>
            <a:ext cx="3291840" cy="1234440"/>
          </a:xfrm>
          <a:prstGeom prst="rect">
            <a:avLst/>
          </a:prstGeom>
          <a:solidFill>
            <a:schemeClr val="bg2"/>
          </a:solidFill>
          <a:ln w="12700">
            <a:solidFill>
              <a:schemeClr val="bg2"/>
            </a:solidFill>
            <a:prstDash val="solid"/>
          </a:ln>
        </p:spPr>
      </p:sp>
      <p:sp>
        <p:nvSpPr>
          <p:cNvPr id="14" name="Shape 12"/>
          <p:cNvSpPr/>
          <p:nvPr/>
        </p:nvSpPr>
        <p:spPr>
          <a:xfrm>
            <a:off x="5486400" y="3429000"/>
            <a:ext cx="64008" cy="1234440"/>
          </a:xfrm>
          <a:prstGeom prst="rect">
            <a:avLst/>
          </a:prstGeom>
          <a:solidFill>
            <a:schemeClr val="accent2"/>
          </a:solidFill>
          <a:ln w="12700">
            <a:solidFill>
              <a:schemeClr val="accent2"/>
            </a:solidFill>
            <a:prstDash val="solid"/>
          </a:ln>
        </p:spPr>
      </p:sp>
      <p:sp>
        <p:nvSpPr>
          <p:cNvPr id="15" name="Text 13"/>
          <p:cNvSpPr txBox="1"/>
          <p:nvPr/>
        </p:nvSpPr>
        <p:spPr>
          <a:xfrm>
            <a:off x="5669280" y="3483864"/>
            <a:ext cx="3017520" cy="274320"/>
          </a:xfrm>
          <a:prstGeom prst="rect">
            <a:avLst/>
          </a:prstGeom>
          <a:noFill/>
          <a:ln/>
        </p:spPr>
        <p:txBody>
          <a:bodyPr wrap="square" lIns="0" tIns="0" rIns="0" bIns="0" rtlCol="0" anchor="ctr"/>
          <a:lstStyle/>
          <a:p>
            <a:pPr marL="0" indent="0">
              <a:buNone/>
            </a:pPr>
            <a:r>
              <a:rPr lang="en-US" sz="1300" b="1" dirty="0">
                <a:solidFill>
                  <a:schemeClr val="tx2"/>
                </a:solidFill>
              </a:rPr>
              <a:t>The gap between families</a:t>
            </a:r>
            <a:endParaRPr lang="en-US" sz="1300" dirty="0"/>
          </a:p>
        </p:txBody>
      </p:sp>
      <p:sp>
        <p:nvSpPr>
          <p:cNvPr id="16" name="Text 14"/>
          <p:cNvSpPr txBox="1"/>
          <p:nvPr/>
        </p:nvSpPr>
        <p:spPr>
          <a:xfrm>
            <a:off x="5669280" y="3758184"/>
            <a:ext cx="3017520" cy="850392"/>
          </a:xfrm>
          <a:prstGeom prst="rect">
            <a:avLst/>
          </a:prstGeom>
          <a:noFill/>
          <a:ln/>
        </p:spPr>
        <p:txBody>
          <a:bodyPr wrap="square" lIns="0" tIns="0" rIns="0" bIns="0" rtlCol="0" anchor="t"/>
          <a:lstStyle/>
          <a:p>
            <a:pPr marL="0" indent="0">
              <a:buNone/>
            </a:pPr>
            <a:r>
              <a:rPr lang="en-US" sz="1100" dirty="0">
                <a:solidFill>
                  <a:schemeClr val="tx1"/>
                </a:solidFill>
              </a:rPr>
              <a:t>The poorest-spending tenth stay under Rs 2,000 and the top tenth pay over Rs 30,000. That is 15 times as much. Only 3 students fell outside the chart.</a:t>
            </a:r>
            <a:endParaRPr lang="en-US" sz="1100" dirty="0"/>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889" y="1051561"/>
            <a:ext cx="4932632" cy="361188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28600"/>
            <a:ext cx="8229600" cy="731520"/>
          </a:xfrm>
          <a:prstGeom prst="rect">
            <a:avLst/>
          </a:prstGeom>
          <a:noFill/>
          <a:ln/>
        </p:spPr>
        <p:txBody>
          <a:bodyPr wrap="square" lIns="0" tIns="0" rIns="0" bIns="0" rtlCol="0" anchor="ctr"/>
          <a:lstStyle/>
          <a:p>
            <a:pPr marL="0" indent="0">
              <a:buNone/>
            </a:pPr>
            <a:r>
              <a:rPr lang="en-US" sz="2000" b="1" dirty="0">
                <a:solidFill>
                  <a:schemeClr val="tx2"/>
                </a:solidFill>
              </a:rPr>
              <a:t>The makeover: from a cloud of dots to a clear story</a:t>
            </a:r>
            <a:endParaRPr lang="en-US" sz="2000" dirty="0"/>
          </a:p>
        </p:txBody>
      </p:sp>
      <p:sp>
        <p:nvSpPr>
          <p:cNvPr id="3" name="Text 1"/>
          <p:cNvSpPr txBox="1"/>
          <p:nvPr/>
        </p:nvSpPr>
        <p:spPr>
          <a:xfrm>
            <a:off x="365760" y="1005840"/>
            <a:ext cx="4023360" cy="274320"/>
          </a:xfrm>
          <a:prstGeom prst="rect">
            <a:avLst/>
          </a:prstGeom>
          <a:noFill/>
          <a:ln/>
        </p:spPr>
        <p:txBody>
          <a:bodyPr wrap="square" lIns="0" tIns="0" rIns="0" bIns="0" rtlCol="0" anchor="ctr"/>
          <a:lstStyle/>
          <a:p>
            <a:pPr marL="0" indent="0">
              <a:buNone/>
            </a:pPr>
            <a:r>
              <a:rPr lang="en-US" sz="1300" b="1" dirty="0">
                <a:solidFill>
                  <a:schemeClr val="accent3"/>
                </a:solidFill>
              </a:rPr>
              <a:t>Before: R default</a:t>
            </a:r>
            <a:endParaRPr lang="en-US" sz="1300" dirty="0"/>
          </a:p>
        </p:txBody>
      </p:sp>
      <p:sp>
        <p:nvSpPr>
          <p:cNvPr id="4" name="Text 2"/>
          <p:cNvSpPr txBox="1"/>
          <p:nvPr/>
        </p:nvSpPr>
        <p:spPr>
          <a:xfrm>
            <a:off x="4754880" y="1005840"/>
            <a:ext cx="4023360" cy="274320"/>
          </a:xfrm>
          <a:prstGeom prst="rect">
            <a:avLst/>
          </a:prstGeom>
          <a:noFill/>
          <a:ln/>
        </p:spPr>
        <p:txBody>
          <a:bodyPr wrap="square" lIns="0" tIns="0" rIns="0" bIns="0" rtlCol="0" anchor="ctr"/>
          <a:lstStyle/>
          <a:p>
            <a:pPr marL="0" indent="0">
              <a:buNone/>
            </a:pPr>
            <a:r>
              <a:rPr lang="en-US" sz="1300" b="1" dirty="0">
                <a:solidFill>
                  <a:schemeClr val="accent1"/>
                </a:solidFill>
              </a:rPr>
              <a:t>After: my redesign</a:t>
            </a:r>
            <a:endParaRPr lang="en-US" sz="1300" dirty="0"/>
          </a:p>
        </p:txBody>
      </p:sp>
      <p:sp>
        <p:nvSpPr>
          <p:cNvPr id="9" name="Card"/>
          <p:cNvSpPr/>
          <p:nvPr/>
        </p:nvSpPr>
        <p:spPr>
          <a:xfrm>
            <a:off x="365760" y="3154680"/>
            <a:ext cx="4023360" cy="777240"/>
          </a:xfrm>
          <a:prstGeom prst="rect">
            <a:avLst/>
          </a:prstGeom>
          <a:solidFill>
            <a:schemeClr val="bg2"/>
          </a:solidFill>
          <a:ln w="12700">
            <a:solidFill>
              <a:schemeClr val="bg2"/>
            </a:solidFill>
            <a:prstDash val="solid"/>
          </a:ln>
        </p:spPr>
      </p:sp>
      <p:sp>
        <p:nvSpPr>
          <p:cNvPr id="10" name="Shape 8"/>
          <p:cNvSpPr/>
          <p:nvPr/>
        </p:nvSpPr>
        <p:spPr>
          <a:xfrm>
            <a:off x="365760" y="3154680"/>
            <a:ext cx="64008" cy="777240"/>
          </a:xfrm>
          <a:prstGeom prst="rect">
            <a:avLst/>
          </a:prstGeom>
          <a:solidFill>
            <a:schemeClr val="accent3"/>
          </a:solidFill>
          <a:ln w="12700">
            <a:solidFill>
              <a:schemeClr val="accent3"/>
            </a:solidFill>
            <a:prstDash val="solid"/>
          </a:ln>
        </p:spPr>
      </p:sp>
      <p:sp>
        <p:nvSpPr>
          <p:cNvPr id="11" name="Text 9"/>
          <p:cNvSpPr txBox="1"/>
          <p:nvPr/>
        </p:nvSpPr>
        <p:spPr>
          <a:xfrm>
            <a:off x="548640" y="3209544"/>
            <a:ext cx="3749040" cy="274320"/>
          </a:xfrm>
          <a:prstGeom prst="rect">
            <a:avLst/>
          </a:prstGeom>
          <a:noFill/>
          <a:ln/>
        </p:spPr>
        <p:txBody>
          <a:bodyPr wrap="square" lIns="0" tIns="0" rIns="0" bIns="0" rtlCol="0" anchor="ctr"/>
          <a:lstStyle/>
          <a:p>
            <a:pPr marL="0" indent="0">
              <a:buNone/>
            </a:pPr>
            <a:r>
              <a:rPr lang="en-US" sz="1300" b="1" dirty="0">
                <a:solidFill>
                  <a:schemeClr val="tx2"/>
                </a:solidFill>
              </a:rPr>
              <a:t>The problem</a:t>
            </a:r>
            <a:endParaRPr lang="en-US" sz="1300" dirty="0"/>
          </a:p>
        </p:txBody>
      </p:sp>
      <p:sp>
        <p:nvSpPr>
          <p:cNvPr id="12" name="Text 10"/>
          <p:cNvSpPr txBox="1"/>
          <p:nvPr/>
        </p:nvSpPr>
        <p:spPr>
          <a:xfrm>
            <a:off x="548640" y="3483864"/>
            <a:ext cx="3749040" cy="393192"/>
          </a:xfrm>
          <a:prstGeom prst="rect">
            <a:avLst/>
          </a:prstGeom>
          <a:noFill/>
          <a:ln/>
        </p:spPr>
        <p:txBody>
          <a:bodyPr wrap="square" lIns="0" tIns="0" rIns="0" bIns="0" rtlCol="0" anchor="t"/>
          <a:lstStyle/>
          <a:p>
            <a:pPr marL="0" indent="0">
              <a:buNone/>
            </a:pPr>
            <a:r>
              <a:rPr lang="en-US" sz="1100" dirty="0">
                <a:solidFill>
                  <a:schemeClr val="tx1"/>
                </a:solidFill>
              </a:rPr>
              <a:t>24,630 dots sit on top of each other at 0 and 1, so you cannot see any trend.</a:t>
            </a:r>
            <a:endParaRPr lang="en-US" sz="1100" dirty="0"/>
          </a:p>
        </p:txBody>
      </p:sp>
      <p:sp>
        <p:nvSpPr>
          <p:cNvPr id="13" name="Card"/>
          <p:cNvSpPr/>
          <p:nvPr/>
        </p:nvSpPr>
        <p:spPr>
          <a:xfrm>
            <a:off x="4754880" y="3154680"/>
            <a:ext cx="4023360" cy="777240"/>
          </a:xfrm>
          <a:prstGeom prst="rect">
            <a:avLst/>
          </a:prstGeom>
          <a:solidFill>
            <a:schemeClr val="bg2"/>
          </a:solidFill>
          <a:ln w="12700">
            <a:solidFill>
              <a:schemeClr val="bg2"/>
            </a:solidFill>
            <a:prstDash val="solid"/>
          </a:ln>
        </p:spPr>
      </p:sp>
      <p:sp>
        <p:nvSpPr>
          <p:cNvPr id="14" name="Shape 12"/>
          <p:cNvSpPr/>
          <p:nvPr/>
        </p:nvSpPr>
        <p:spPr>
          <a:xfrm>
            <a:off x="4754880" y="3154680"/>
            <a:ext cx="64008" cy="777240"/>
          </a:xfrm>
          <a:prstGeom prst="rect">
            <a:avLst/>
          </a:prstGeom>
          <a:solidFill>
            <a:schemeClr val="accent1"/>
          </a:solidFill>
          <a:ln w="12700">
            <a:solidFill>
              <a:schemeClr val="accent1"/>
            </a:solidFill>
            <a:prstDash val="solid"/>
          </a:ln>
        </p:spPr>
      </p:sp>
      <p:sp>
        <p:nvSpPr>
          <p:cNvPr id="15" name="Text 13"/>
          <p:cNvSpPr txBox="1"/>
          <p:nvPr/>
        </p:nvSpPr>
        <p:spPr>
          <a:xfrm>
            <a:off x="4937760" y="3209544"/>
            <a:ext cx="3749040" cy="274320"/>
          </a:xfrm>
          <a:prstGeom prst="rect">
            <a:avLst/>
          </a:prstGeom>
          <a:noFill/>
          <a:ln/>
        </p:spPr>
        <p:txBody>
          <a:bodyPr wrap="square" lIns="0" tIns="0" rIns="0" bIns="0" rtlCol="0" anchor="ctr"/>
          <a:lstStyle/>
          <a:p>
            <a:pPr marL="0" indent="0">
              <a:buNone/>
            </a:pPr>
            <a:r>
              <a:rPr lang="en-US" sz="1300" b="1" dirty="0">
                <a:solidFill>
                  <a:schemeClr val="tx2"/>
                </a:solidFill>
              </a:rPr>
              <a:t>The fix</a:t>
            </a:r>
            <a:endParaRPr lang="en-US" sz="1300" dirty="0"/>
          </a:p>
        </p:txBody>
      </p:sp>
      <p:sp>
        <p:nvSpPr>
          <p:cNvPr id="16" name="Text 14"/>
          <p:cNvSpPr txBox="1"/>
          <p:nvPr/>
        </p:nvSpPr>
        <p:spPr>
          <a:xfrm>
            <a:off x="4937760" y="3483864"/>
            <a:ext cx="3749040" cy="393192"/>
          </a:xfrm>
          <a:prstGeom prst="rect">
            <a:avLst/>
          </a:prstGeom>
          <a:noFill/>
          <a:ln/>
        </p:spPr>
        <p:txBody>
          <a:bodyPr wrap="square" lIns="0" tIns="0" rIns="0" bIns="0" rtlCol="0" anchor="t"/>
          <a:lstStyle/>
          <a:p>
            <a:pPr marL="0" indent="0">
              <a:buNone/>
            </a:pPr>
            <a:r>
              <a:rPr lang="en-US" sz="1100" dirty="0">
                <a:solidFill>
                  <a:schemeClr val="tx1"/>
                </a:solidFill>
              </a:rPr>
              <a:t>Each point is the share of people who can read in one age group, for women and men.</a:t>
            </a:r>
            <a:endParaRPr lang="en-US" sz="1100" dirty="0"/>
          </a:p>
        </p:txBody>
      </p:sp>
      <p:sp>
        <p:nvSpPr>
          <p:cNvPr id="17" name="Card"/>
          <p:cNvSpPr/>
          <p:nvPr/>
        </p:nvSpPr>
        <p:spPr>
          <a:xfrm>
            <a:off x="365760" y="4023360"/>
            <a:ext cx="2697480" cy="731520"/>
          </a:xfrm>
          <a:prstGeom prst="rect">
            <a:avLst/>
          </a:prstGeom>
          <a:solidFill>
            <a:schemeClr val="bg2"/>
          </a:solidFill>
          <a:ln w="12700">
            <a:solidFill>
              <a:schemeClr val="bg2"/>
            </a:solidFill>
            <a:prstDash val="solid"/>
          </a:ln>
        </p:spPr>
      </p:sp>
      <p:sp>
        <p:nvSpPr>
          <p:cNvPr id="18" name="Shape 16"/>
          <p:cNvSpPr/>
          <p:nvPr/>
        </p:nvSpPr>
        <p:spPr>
          <a:xfrm>
            <a:off x="365760" y="4023360"/>
            <a:ext cx="64008" cy="731520"/>
          </a:xfrm>
          <a:prstGeom prst="rect">
            <a:avLst/>
          </a:prstGeom>
          <a:solidFill>
            <a:schemeClr val="accent5"/>
          </a:solidFill>
          <a:ln w="12700">
            <a:solidFill>
              <a:schemeClr val="accent5"/>
            </a:solidFill>
            <a:prstDash val="solid"/>
          </a:ln>
        </p:spPr>
      </p:sp>
      <p:sp>
        <p:nvSpPr>
          <p:cNvPr id="19" name="Text 17"/>
          <p:cNvSpPr txBox="1"/>
          <p:nvPr/>
        </p:nvSpPr>
        <p:spPr>
          <a:xfrm>
            <a:off x="548640" y="4078224"/>
            <a:ext cx="2423160" cy="274320"/>
          </a:xfrm>
          <a:prstGeom prst="rect">
            <a:avLst/>
          </a:prstGeom>
          <a:noFill/>
          <a:ln/>
        </p:spPr>
        <p:txBody>
          <a:bodyPr wrap="square" lIns="0" tIns="0" rIns="0" bIns="0" rtlCol="0" anchor="ctr"/>
          <a:lstStyle/>
          <a:p>
            <a:pPr marL="0" indent="0">
              <a:buNone/>
            </a:pPr>
            <a:r>
              <a:rPr lang="en-US" sz="1300" b="1" dirty="0">
                <a:solidFill>
                  <a:schemeClr val="tx2"/>
                </a:solidFill>
              </a:rPr>
              <a:t>Conditional means</a:t>
            </a:r>
            <a:endParaRPr lang="en-US" sz="1300" dirty="0"/>
          </a:p>
        </p:txBody>
      </p:sp>
      <p:sp>
        <p:nvSpPr>
          <p:cNvPr id="20" name="Text 18"/>
          <p:cNvSpPr txBox="1"/>
          <p:nvPr/>
        </p:nvSpPr>
        <p:spPr>
          <a:xfrm>
            <a:off x="548640" y="4352544"/>
            <a:ext cx="2423160" cy="347472"/>
          </a:xfrm>
          <a:prstGeom prst="rect">
            <a:avLst/>
          </a:prstGeom>
          <a:noFill/>
          <a:ln/>
        </p:spPr>
        <p:txBody>
          <a:bodyPr wrap="square" lIns="0" tIns="0" rIns="0" bIns="0" rtlCol="0" anchor="t"/>
          <a:lstStyle/>
          <a:p>
            <a:pPr marL="0" indent="0">
              <a:buNone/>
            </a:pPr>
            <a:r>
              <a:rPr lang="en-US" sz="1100" dirty="0">
                <a:solidFill>
                  <a:schemeClr val="tx1"/>
                </a:solidFill>
              </a:rPr>
              <a:t>Rates per age band replace raw dots.</a:t>
            </a:r>
            <a:endParaRPr lang="en-US" sz="1100" dirty="0"/>
          </a:p>
        </p:txBody>
      </p:sp>
      <p:sp>
        <p:nvSpPr>
          <p:cNvPr id="21" name="Card"/>
          <p:cNvSpPr/>
          <p:nvPr/>
        </p:nvSpPr>
        <p:spPr>
          <a:xfrm>
            <a:off x="3223260" y="4023360"/>
            <a:ext cx="2697480" cy="731520"/>
          </a:xfrm>
          <a:prstGeom prst="rect">
            <a:avLst/>
          </a:prstGeom>
          <a:solidFill>
            <a:schemeClr val="bg2"/>
          </a:solidFill>
          <a:ln w="12700">
            <a:solidFill>
              <a:schemeClr val="bg2"/>
            </a:solidFill>
            <a:prstDash val="solid"/>
          </a:ln>
        </p:spPr>
      </p:sp>
      <p:sp>
        <p:nvSpPr>
          <p:cNvPr id="22" name="Shape 20"/>
          <p:cNvSpPr/>
          <p:nvPr/>
        </p:nvSpPr>
        <p:spPr>
          <a:xfrm>
            <a:off x="3223260" y="4023360"/>
            <a:ext cx="64008" cy="731520"/>
          </a:xfrm>
          <a:prstGeom prst="rect">
            <a:avLst/>
          </a:prstGeom>
          <a:solidFill>
            <a:schemeClr val="accent6"/>
          </a:solidFill>
          <a:ln w="12700">
            <a:solidFill>
              <a:schemeClr val="accent6"/>
            </a:solidFill>
            <a:prstDash val="solid"/>
          </a:ln>
        </p:spPr>
      </p:sp>
      <p:sp>
        <p:nvSpPr>
          <p:cNvPr id="23" name="Text 21"/>
          <p:cNvSpPr txBox="1"/>
          <p:nvPr/>
        </p:nvSpPr>
        <p:spPr>
          <a:xfrm>
            <a:off x="3406140" y="4078224"/>
            <a:ext cx="2423160" cy="274320"/>
          </a:xfrm>
          <a:prstGeom prst="rect">
            <a:avLst/>
          </a:prstGeom>
          <a:noFill/>
          <a:ln/>
        </p:spPr>
        <p:txBody>
          <a:bodyPr wrap="square" lIns="0" tIns="0" rIns="0" bIns="0" rtlCol="0" anchor="ctr"/>
          <a:lstStyle/>
          <a:p>
            <a:pPr marL="0" indent="0">
              <a:buNone/>
            </a:pPr>
            <a:r>
              <a:rPr lang="en-US" sz="1300" b="1" dirty="0">
                <a:solidFill>
                  <a:schemeClr val="tx2"/>
                </a:solidFill>
              </a:rPr>
              <a:t>Common scale</a:t>
            </a:r>
            <a:endParaRPr lang="en-US" sz="1300" dirty="0"/>
          </a:p>
        </p:txBody>
      </p:sp>
      <p:sp>
        <p:nvSpPr>
          <p:cNvPr id="24" name="Text 22"/>
          <p:cNvSpPr txBox="1"/>
          <p:nvPr/>
        </p:nvSpPr>
        <p:spPr>
          <a:xfrm>
            <a:off x="3406140" y="4352544"/>
            <a:ext cx="2423160" cy="347472"/>
          </a:xfrm>
          <a:prstGeom prst="rect">
            <a:avLst/>
          </a:prstGeom>
          <a:noFill/>
          <a:ln/>
        </p:spPr>
        <p:txBody>
          <a:bodyPr wrap="square" lIns="0" tIns="0" rIns="0" bIns="0" rtlCol="0" anchor="t"/>
          <a:lstStyle/>
          <a:p>
            <a:pPr marL="0" indent="0">
              <a:buNone/>
            </a:pPr>
            <a:r>
              <a:rPr lang="en-US" sz="1100" dirty="0">
                <a:solidFill>
                  <a:schemeClr val="tx1"/>
                </a:solidFill>
              </a:rPr>
              <a:t>Position on one axis, two colours.</a:t>
            </a:r>
            <a:endParaRPr lang="en-US" sz="1100" dirty="0"/>
          </a:p>
        </p:txBody>
      </p:sp>
      <p:sp>
        <p:nvSpPr>
          <p:cNvPr id="25" name="Card"/>
          <p:cNvSpPr/>
          <p:nvPr/>
        </p:nvSpPr>
        <p:spPr>
          <a:xfrm>
            <a:off x="6080760" y="4023360"/>
            <a:ext cx="2697480" cy="731520"/>
          </a:xfrm>
          <a:prstGeom prst="rect">
            <a:avLst/>
          </a:prstGeom>
          <a:solidFill>
            <a:schemeClr val="bg2"/>
          </a:solidFill>
          <a:ln w="12700">
            <a:solidFill>
              <a:schemeClr val="bg2"/>
            </a:solidFill>
            <a:prstDash val="solid"/>
          </a:ln>
        </p:spPr>
      </p:sp>
      <p:sp>
        <p:nvSpPr>
          <p:cNvPr id="26" name="Shape 24"/>
          <p:cNvSpPr/>
          <p:nvPr/>
        </p:nvSpPr>
        <p:spPr>
          <a:xfrm>
            <a:off x="6080760" y="4023360"/>
            <a:ext cx="64008" cy="731520"/>
          </a:xfrm>
          <a:prstGeom prst="rect">
            <a:avLst/>
          </a:prstGeom>
          <a:solidFill>
            <a:schemeClr val="accent2"/>
          </a:solidFill>
          <a:ln w="12700">
            <a:solidFill>
              <a:schemeClr val="accent2"/>
            </a:solidFill>
            <a:prstDash val="solid"/>
          </a:ln>
        </p:spPr>
      </p:sp>
      <p:sp>
        <p:nvSpPr>
          <p:cNvPr id="27" name="Text 25"/>
          <p:cNvSpPr txBox="1"/>
          <p:nvPr/>
        </p:nvSpPr>
        <p:spPr>
          <a:xfrm>
            <a:off x="6263640" y="4078224"/>
            <a:ext cx="2423160" cy="274320"/>
          </a:xfrm>
          <a:prstGeom prst="rect">
            <a:avLst/>
          </a:prstGeom>
          <a:noFill/>
          <a:ln/>
        </p:spPr>
        <p:txBody>
          <a:bodyPr wrap="square" lIns="0" tIns="0" rIns="0" bIns="0" rtlCol="0" anchor="ctr"/>
          <a:lstStyle/>
          <a:p>
            <a:pPr marL="0" indent="0">
              <a:buNone/>
            </a:pPr>
            <a:r>
              <a:rPr lang="en-US" sz="1300" b="1" dirty="0">
                <a:solidFill>
                  <a:schemeClr val="tx2"/>
                </a:solidFill>
              </a:rPr>
              <a:t>Less ink</a:t>
            </a:r>
            <a:endParaRPr lang="en-US" sz="1300" dirty="0"/>
          </a:p>
        </p:txBody>
      </p:sp>
      <p:sp>
        <p:nvSpPr>
          <p:cNvPr id="28" name="Text 26"/>
          <p:cNvSpPr txBox="1"/>
          <p:nvPr/>
        </p:nvSpPr>
        <p:spPr>
          <a:xfrm>
            <a:off x="6263640" y="4352544"/>
            <a:ext cx="2423160" cy="347472"/>
          </a:xfrm>
          <a:prstGeom prst="rect">
            <a:avLst/>
          </a:prstGeom>
          <a:noFill/>
          <a:ln/>
        </p:spPr>
        <p:txBody>
          <a:bodyPr wrap="square" lIns="0" tIns="0" rIns="0" bIns="0" rtlCol="0" anchor="t"/>
          <a:lstStyle/>
          <a:p>
            <a:pPr marL="0" indent="0">
              <a:buNone/>
            </a:pPr>
            <a:r>
              <a:rPr lang="en-US" sz="1100" dirty="0">
                <a:solidFill>
                  <a:schemeClr val="tx1"/>
                </a:solidFill>
              </a:rPr>
              <a:t>Labels on the lines, no legend.</a:t>
            </a:r>
            <a:endParaRPr lang="en-US" sz="1100" dirty="0"/>
          </a:p>
        </p:txBody>
      </p:sp>
      <p:pic>
        <p:nvPicPr>
          <p:cNvPr id="29" name="Picture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064" y="1325880"/>
            <a:ext cx="4431323" cy="1737360"/>
          </a:xfrm>
          <a:prstGeom prst="rect">
            <a:avLst/>
          </a:prstGeom>
        </p:spPr>
      </p:pic>
      <p:pic>
        <p:nvPicPr>
          <p:cNvPr id="30"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54880" y="1335024"/>
            <a:ext cx="4023360" cy="172821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28600"/>
            <a:ext cx="8229600" cy="731520"/>
          </a:xfrm>
          <a:prstGeom prst="rect">
            <a:avLst/>
          </a:prstGeom>
          <a:noFill/>
          <a:ln/>
        </p:spPr>
        <p:txBody>
          <a:bodyPr wrap="square" lIns="0" tIns="0" rIns="0" bIns="0" rtlCol="0" anchor="ctr"/>
          <a:lstStyle/>
          <a:p>
            <a:pPr marL="0" indent="0">
              <a:buNone/>
            </a:pPr>
            <a:r>
              <a:rPr lang="en-US" sz="2000" b="1" dirty="0">
                <a:solidFill>
                  <a:schemeClr val="tx2"/>
                </a:solidFill>
              </a:rPr>
              <a:t>Women and men start almost equal, then the gap grows with age</a:t>
            </a:r>
            <a:endParaRPr lang="en-US" sz="2000" dirty="0"/>
          </a:p>
        </p:txBody>
      </p:sp>
      <p:sp>
        <p:nvSpPr>
          <p:cNvPr id="3" name="Shape 1"/>
          <p:cNvSpPr/>
          <p:nvPr/>
        </p:nvSpPr>
        <p:spPr>
          <a:xfrm>
            <a:off x="365760" y="1051560"/>
            <a:ext cx="4023360" cy="1554480"/>
          </a:xfrm>
          <a:prstGeom prst="rect">
            <a:avLst/>
          </a:prstGeom>
          <a:solidFill>
            <a:schemeClr val="bg2"/>
          </a:solidFill>
          <a:ln w="12700">
            <a:solidFill>
              <a:schemeClr val="bg2"/>
            </a:solidFill>
            <a:prstDash val="solid"/>
          </a:ln>
        </p:spPr>
      </p:sp>
      <p:sp>
        <p:nvSpPr>
          <p:cNvPr id="4" name="Shape 2"/>
          <p:cNvSpPr/>
          <p:nvPr/>
        </p:nvSpPr>
        <p:spPr>
          <a:xfrm>
            <a:off x="4754880" y="1051560"/>
            <a:ext cx="4023360" cy="1554480"/>
          </a:xfrm>
          <a:prstGeom prst="rect">
            <a:avLst/>
          </a:prstGeom>
          <a:solidFill>
            <a:schemeClr val="bg2"/>
          </a:solidFill>
          <a:ln w="12700">
            <a:solidFill>
              <a:schemeClr val="bg2"/>
            </a:solidFill>
            <a:prstDash val="solid"/>
          </a:ln>
        </p:spPr>
      </p:sp>
      <p:sp>
        <p:nvSpPr>
          <p:cNvPr id="5" name="Text 3"/>
          <p:cNvSpPr txBox="1"/>
          <p:nvPr/>
        </p:nvSpPr>
        <p:spPr>
          <a:xfrm>
            <a:off x="548640" y="1143000"/>
            <a:ext cx="3657600" cy="640080"/>
          </a:xfrm>
          <a:prstGeom prst="rect">
            <a:avLst/>
          </a:prstGeom>
          <a:noFill/>
          <a:ln/>
        </p:spPr>
        <p:txBody>
          <a:bodyPr wrap="square" lIns="0" tIns="0" rIns="0" bIns="0" rtlCol="0" anchor="ctr"/>
          <a:lstStyle/>
          <a:p>
            <a:pPr marL="0" indent="0">
              <a:buNone/>
            </a:pPr>
            <a:r>
              <a:rPr lang="en-US" sz="3600" b="1" dirty="0">
                <a:solidFill>
                  <a:schemeClr val="accent3"/>
                </a:solidFill>
              </a:rPr>
              <a:t>6.7 points</a:t>
            </a:r>
            <a:endParaRPr lang="en-US" sz="3600" dirty="0"/>
          </a:p>
        </p:txBody>
      </p:sp>
      <p:sp>
        <p:nvSpPr>
          <p:cNvPr id="6" name="Text 4"/>
          <p:cNvSpPr txBox="1"/>
          <p:nvPr/>
        </p:nvSpPr>
        <p:spPr>
          <a:xfrm>
            <a:off x="548640" y="1783080"/>
            <a:ext cx="3657600" cy="731520"/>
          </a:xfrm>
          <a:prstGeom prst="rect">
            <a:avLst/>
          </a:prstGeom>
          <a:noFill/>
          <a:ln/>
        </p:spPr>
        <p:txBody>
          <a:bodyPr wrap="square" lIns="0" tIns="0" rIns="0" bIns="0" rtlCol="0" anchor="t"/>
          <a:lstStyle/>
          <a:p>
            <a:pPr marL="0" indent="0">
              <a:buNone/>
            </a:pPr>
            <a:r>
              <a:rPr lang="en-US" sz="1200" dirty="0">
                <a:solidFill>
                  <a:schemeClr val="tx1"/>
                </a:solidFill>
              </a:rPr>
              <a:t>gap at ages 15-19: 73.1% of women and 79.8% of men can read</a:t>
            </a:r>
            <a:endParaRPr lang="en-US" sz="1200" dirty="0"/>
          </a:p>
        </p:txBody>
      </p:sp>
      <p:sp>
        <p:nvSpPr>
          <p:cNvPr id="7" name="Text 5"/>
          <p:cNvSpPr txBox="1"/>
          <p:nvPr/>
        </p:nvSpPr>
        <p:spPr>
          <a:xfrm>
            <a:off x="4937760" y="1143000"/>
            <a:ext cx="3657600" cy="640080"/>
          </a:xfrm>
          <a:prstGeom prst="rect">
            <a:avLst/>
          </a:prstGeom>
          <a:noFill/>
          <a:ln/>
        </p:spPr>
        <p:txBody>
          <a:bodyPr wrap="square" lIns="0" tIns="0" rIns="0" bIns="0" rtlCol="0" anchor="ctr"/>
          <a:lstStyle/>
          <a:p>
            <a:pPr marL="0" indent="0">
              <a:buNone/>
            </a:pPr>
            <a:r>
              <a:rPr lang="en-US" sz="3600" b="1" dirty="0">
                <a:solidFill>
                  <a:schemeClr val="accent2"/>
                </a:solidFill>
              </a:rPr>
              <a:t>35.8 points</a:t>
            </a:r>
            <a:endParaRPr lang="en-US" sz="3600" dirty="0"/>
          </a:p>
        </p:txBody>
      </p:sp>
      <p:sp>
        <p:nvSpPr>
          <p:cNvPr id="8" name="Text 6"/>
          <p:cNvSpPr txBox="1"/>
          <p:nvPr/>
        </p:nvSpPr>
        <p:spPr>
          <a:xfrm>
            <a:off x="4937760" y="1783080"/>
            <a:ext cx="3657600" cy="731520"/>
          </a:xfrm>
          <a:prstGeom prst="rect">
            <a:avLst/>
          </a:prstGeom>
          <a:noFill/>
          <a:ln/>
        </p:spPr>
        <p:txBody>
          <a:bodyPr wrap="square" lIns="0" tIns="0" rIns="0" bIns="0" rtlCol="0" anchor="t"/>
          <a:lstStyle/>
          <a:p>
            <a:pPr marL="0" indent="0">
              <a:buNone/>
            </a:pPr>
            <a:r>
              <a:rPr lang="en-US" sz="1200" dirty="0">
                <a:solidFill>
                  <a:schemeClr val="tx1"/>
                </a:solidFill>
              </a:rPr>
              <a:t>gap at ages 55-59, the widest: 15.0% of women and 50.8% of men can read</a:t>
            </a:r>
            <a:endParaRPr lang="en-US" sz="1200" dirty="0"/>
          </a:p>
        </p:txBody>
      </p:sp>
      <p:sp>
        <p:nvSpPr>
          <p:cNvPr id="9" name="Card"/>
          <p:cNvSpPr/>
          <p:nvPr/>
        </p:nvSpPr>
        <p:spPr>
          <a:xfrm>
            <a:off x="365760" y="2743200"/>
            <a:ext cx="4023360" cy="1051560"/>
          </a:xfrm>
          <a:prstGeom prst="rect">
            <a:avLst/>
          </a:prstGeom>
          <a:solidFill>
            <a:schemeClr val="bg2"/>
          </a:solidFill>
          <a:ln w="12700">
            <a:solidFill>
              <a:schemeClr val="bg2"/>
            </a:solidFill>
            <a:prstDash val="solid"/>
          </a:ln>
        </p:spPr>
      </p:sp>
      <p:sp>
        <p:nvSpPr>
          <p:cNvPr id="10" name="Shape 8"/>
          <p:cNvSpPr/>
          <p:nvPr/>
        </p:nvSpPr>
        <p:spPr>
          <a:xfrm>
            <a:off x="365760" y="2743200"/>
            <a:ext cx="64008" cy="1051560"/>
          </a:xfrm>
          <a:prstGeom prst="rect">
            <a:avLst/>
          </a:prstGeom>
          <a:solidFill>
            <a:schemeClr val="accent1"/>
          </a:solidFill>
          <a:ln w="12700">
            <a:solidFill>
              <a:schemeClr val="accent1"/>
            </a:solidFill>
            <a:prstDash val="solid"/>
          </a:ln>
        </p:spPr>
      </p:sp>
      <p:sp>
        <p:nvSpPr>
          <p:cNvPr id="11" name="Text 9"/>
          <p:cNvSpPr txBox="1"/>
          <p:nvPr/>
        </p:nvSpPr>
        <p:spPr>
          <a:xfrm>
            <a:off x="548640" y="2798064"/>
            <a:ext cx="3749040" cy="274320"/>
          </a:xfrm>
          <a:prstGeom prst="rect">
            <a:avLst/>
          </a:prstGeom>
          <a:noFill/>
          <a:ln/>
        </p:spPr>
        <p:txBody>
          <a:bodyPr wrap="square" lIns="0" tIns="0" rIns="0" bIns="0" rtlCol="0" anchor="ctr"/>
          <a:lstStyle/>
          <a:p>
            <a:pPr marL="0" indent="0">
              <a:buNone/>
            </a:pPr>
            <a:r>
              <a:rPr lang="en-US" sz="1300" b="1" dirty="0">
                <a:solidFill>
                  <a:schemeClr val="tx2"/>
                </a:solidFill>
              </a:rPr>
              <a:t>How to read it</a:t>
            </a:r>
            <a:endParaRPr lang="en-US" sz="1300" dirty="0"/>
          </a:p>
        </p:txBody>
      </p:sp>
      <p:sp>
        <p:nvSpPr>
          <p:cNvPr id="12" name="Text 10"/>
          <p:cNvSpPr txBox="1"/>
          <p:nvPr/>
        </p:nvSpPr>
        <p:spPr>
          <a:xfrm>
            <a:off x="548640" y="3072384"/>
            <a:ext cx="3749040" cy="667512"/>
          </a:xfrm>
          <a:prstGeom prst="rect">
            <a:avLst/>
          </a:prstGeom>
          <a:noFill/>
          <a:ln/>
        </p:spPr>
        <p:txBody>
          <a:bodyPr wrap="square" lIns="0" tIns="0" rIns="0" bIns="0" rtlCol="0" anchor="t"/>
          <a:lstStyle/>
          <a:p>
            <a:pPr marL="0" indent="0">
              <a:buNone/>
            </a:pPr>
            <a:r>
              <a:rPr lang="en-US" sz="1100" dirty="0">
                <a:solidFill>
                  <a:schemeClr val="tx1"/>
                </a:solidFill>
              </a:rPr>
              <a:t>Older women probably had far less chance to go to school. This looks like a difference between generations, not people losing the skill.</a:t>
            </a:r>
            <a:endParaRPr lang="en-US" sz="1100" dirty="0"/>
          </a:p>
        </p:txBody>
      </p:sp>
      <p:sp>
        <p:nvSpPr>
          <p:cNvPr id="13" name="Card"/>
          <p:cNvSpPr/>
          <p:nvPr/>
        </p:nvSpPr>
        <p:spPr>
          <a:xfrm>
            <a:off x="4754880" y="2743200"/>
            <a:ext cx="4023360" cy="1051560"/>
          </a:xfrm>
          <a:prstGeom prst="rect">
            <a:avLst/>
          </a:prstGeom>
          <a:solidFill>
            <a:schemeClr val="bg2"/>
          </a:solidFill>
          <a:ln w="12700">
            <a:solidFill>
              <a:schemeClr val="bg2"/>
            </a:solidFill>
            <a:prstDash val="solid"/>
          </a:ln>
        </p:spPr>
      </p:sp>
      <p:sp>
        <p:nvSpPr>
          <p:cNvPr id="14" name="Shape 12"/>
          <p:cNvSpPr/>
          <p:nvPr/>
        </p:nvSpPr>
        <p:spPr>
          <a:xfrm>
            <a:off x="4754880" y="2743200"/>
            <a:ext cx="64008" cy="1051560"/>
          </a:xfrm>
          <a:prstGeom prst="rect">
            <a:avLst/>
          </a:prstGeom>
          <a:solidFill>
            <a:schemeClr val="accent6"/>
          </a:solidFill>
          <a:ln w="12700">
            <a:solidFill>
              <a:schemeClr val="accent6"/>
            </a:solidFill>
            <a:prstDash val="solid"/>
          </a:ln>
        </p:spPr>
      </p:sp>
      <p:sp>
        <p:nvSpPr>
          <p:cNvPr id="15" name="Text 13"/>
          <p:cNvSpPr txBox="1"/>
          <p:nvPr/>
        </p:nvSpPr>
        <p:spPr>
          <a:xfrm>
            <a:off x="4937760" y="2798064"/>
            <a:ext cx="3749040" cy="274320"/>
          </a:xfrm>
          <a:prstGeom prst="rect">
            <a:avLst/>
          </a:prstGeom>
          <a:noFill/>
          <a:ln/>
        </p:spPr>
        <p:txBody>
          <a:bodyPr wrap="square" lIns="0" tIns="0" rIns="0" bIns="0" rtlCol="0" anchor="ctr"/>
          <a:lstStyle/>
          <a:p>
            <a:pPr marL="0" indent="0">
              <a:buNone/>
            </a:pPr>
            <a:r>
              <a:rPr lang="en-US" sz="1300" b="1" dirty="0">
                <a:solidFill>
                  <a:schemeClr val="tx2"/>
                </a:solidFill>
              </a:rPr>
              <a:t>What it cannot tell us</a:t>
            </a:r>
            <a:endParaRPr lang="en-US" sz="1300" dirty="0"/>
          </a:p>
        </p:txBody>
      </p:sp>
      <p:sp>
        <p:nvSpPr>
          <p:cNvPr id="16" name="Text 14"/>
          <p:cNvSpPr txBox="1"/>
          <p:nvPr/>
        </p:nvSpPr>
        <p:spPr>
          <a:xfrm>
            <a:off x="4937760" y="3072384"/>
            <a:ext cx="3749040" cy="667512"/>
          </a:xfrm>
          <a:prstGeom prst="rect">
            <a:avLst/>
          </a:prstGeom>
          <a:noFill/>
          <a:ln/>
        </p:spPr>
        <p:txBody>
          <a:bodyPr wrap="square" lIns="0" tIns="0" rIns="0" bIns="0" rtlCol="0" anchor="t"/>
          <a:lstStyle/>
          <a:p>
            <a:pPr marL="0" indent="0">
              <a:buNone/>
            </a:pPr>
            <a:r>
              <a:rPr lang="en-US" sz="1100" dirty="0">
                <a:solidFill>
                  <a:schemeClr val="tx1"/>
                </a:solidFill>
              </a:rPr>
              <a:t>We see only one survey year, so we cannot separate getting older from being born earlier.</a:t>
            </a:r>
            <a:endParaRPr lang="en-US" sz="1100" dirty="0"/>
          </a:p>
        </p:txBody>
      </p:sp>
      <p:sp>
        <p:nvSpPr>
          <p:cNvPr id="17" name="Shape 15"/>
          <p:cNvSpPr/>
          <p:nvPr/>
        </p:nvSpPr>
        <p:spPr>
          <a:xfrm>
            <a:off x="365760" y="3931920"/>
            <a:ext cx="8412480" cy="777240"/>
          </a:xfrm>
          <a:prstGeom prst="rect">
            <a:avLst/>
          </a:prstGeom>
          <a:solidFill>
            <a:schemeClr val="tx2"/>
          </a:solidFill>
          <a:ln w="12700">
            <a:solidFill>
              <a:schemeClr val="tx2"/>
            </a:solidFill>
            <a:prstDash val="solid"/>
          </a:ln>
        </p:spPr>
      </p:sp>
      <p:sp>
        <p:nvSpPr>
          <p:cNvPr id="18" name="Text 16"/>
          <p:cNvSpPr txBox="1"/>
          <p:nvPr/>
        </p:nvSpPr>
        <p:spPr>
          <a:xfrm>
            <a:off x="548640" y="3931920"/>
            <a:ext cx="8046720" cy="777240"/>
          </a:xfrm>
          <a:prstGeom prst="rect">
            <a:avLst/>
          </a:prstGeom>
          <a:noFill/>
          <a:ln/>
        </p:spPr>
        <p:txBody>
          <a:bodyPr wrap="square" lIns="0" tIns="0" rIns="0" bIns="0" rtlCol="0" anchor="ctr"/>
          <a:lstStyle/>
          <a:p>
            <a:pPr marL="0" indent="0">
              <a:buNone/>
            </a:pPr>
            <a:r>
              <a:rPr lang="en-US" sz="1500" b="1" dirty="0">
                <a:solidFill>
                  <a:schemeClr val="bg1"/>
                </a:solidFill>
              </a:rPr>
              <a:t>At ages 55-59 only about 15 in 100 rural Punjab women can read, against about 51 in 100 men.</a:t>
            </a:r>
            <a:endParaRPr lang="en-US" sz="15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096963"/>
            <a:ext cx="7864475" cy="1371600"/>
          </a:xfrm>
          <a:prstGeom prst="rect">
            <a:avLst/>
          </a:prstGeom>
        </p:spPr>
        <p:txBody>
          <a:bodyPr/>
          <a:lstStyle/>
          <a:p>
            <a:r>
              <a:rPr lang="en-US" smtClean="0"/>
              <a:t/>
            </a:r>
            <a:br>
              <a:rPr lang="en-US" smtClean="0"/>
            </a:br>
            <a:endParaRPr lang="en-US" dirty="0"/>
          </a:p>
        </p:txBody>
      </p:sp>
      <p:sp>
        <p:nvSpPr>
          <p:cNvPr id="12" name="Rectangle 11"/>
          <p:cNvSpPr/>
          <p:nvPr/>
        </p:nvSpPr>
        <p:spPr>
          <a:xfrm>
            <a:off x="82296" y="-2245"/>
            <a:ext cx="9061704" cy="5143500"/>
          </a:xfrm>
          <a:prstGeom prst="rect">
            <a:avLst/>
          </a:prstGeom>
          <a:solidFill>
            <a:srgbClr val="10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rgbClr val="7030A0"/>
              </a:solidFill>
            </a:endParaRPr>
          </a:p>
        </p:txBody>
      </p:sp>
      <p:sp>
        <p:nvSpPr>
          <p:cNvPr id="13" name="Rectangle 12"/>
          <p:cNvSpPr/>
          <p:nvPr/>
        </p:nvSpPr>
        <p:spPr>
          <a:xfrm>
            <a:off x="0" y="0"/>
            <a:ext cx="164592" cy="5143501"/>
          </a:xfrm>
          <a:prstGeom prst="rect">
            <a:avLst/>
          </a:prstGeom>
          <a:solidFill>
            <a:srgbClr val="E8B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3746" y="752051"/>
            <a:ext cx="8832514" cy="492443"/>
          </a:xfrm>
          <a:prstGeom prst="rect">
            <a:avLst/>
          </a:prstGeom>
          <a:noFill/>
        </p:spPr>
        <p:txBody>
          <a:bodyPr wrap="square" lIns="0" tIns="0" rIns="0" bIns="0">
            <a:spAutoFit/>
          </a:bodyPr>
          <a:lstStyle/>
          <a:p>
            <a:pPr algn="ctr"/>
            <a:r>
              <a:rPr lang="en-US" sz="1500" b="1" dirty="0" smtClean="0">
                <a:solidFill>
                  <a:srgbClr val="C2DCEB"/>
                </a:solidFill>
                <a:latin typeface="Times New Roman" panose="02020603050405020304" pitchFamily="18" charset="0"/>
                <a:cs typeface="Times New Roman" panose="02020603050405020304" pitchFamily="18" charset="0"/>
              </a:rPr>
              <a:t> </a:t>
            </a:r>
            <a:r>
              <a:rPr lang="en-US" sz="1500" b="1" dirty="0" smtClean="0">
                <a:solidFill>
                  <a:srgbClr val="E8B66A"/>
                </a:solidFill>
                <a:latin typeface="Times New Roman" panose="02020603050405020304" pitchFamily="18" charset="0"/>
                <a:cs typeface="Times New Roman" panose="02020603050405020304" pitchFamily="18" charset="0"/>
              </a:rPr>
              <a:t>ECONOMICS    </a:t>
            </a:r>
            <a:r>
              <a:rPr lang="en-US" sz="3200" b="1" dirty="0" smtClean="0">
                <a:solidFill>
                  <a:srgbClr val="E8B66A"/>
                </a:solidFill>
                <a:latin typeface="Times New Roman" panose="02020603050405020304" pitchFamily="18" charset="0"/>
                <a:cs typeface="Times New Roman" panose="02020603050405020304" pitchFamily="18" charset="0"/>
              </a:rPr>
              <a:t>.</a:t>
            </a:r>
            <a:r>
              <a:rPr lang="en-US" sz="1500" b="1" dirty="0" smtClean="0">
                <a:solidFill>
                  <a:srgbClr val="E8B66A"/>
                </a:solidFill>
                <a:latin typeface="Times New Roman" panose="02020603050405020304" pitchFamily="18" charset="0"/>
                <a:cs typeface="Times New Roman" panose="02020603050405020304" pitchFamily="18" charset="0"/>
              </a:rPr>
              <a:t>  EDUCATION     </a:t>
            </a:r>
            <a:r>
              <a:rPr lang="en-US" sz="3200" b="1" dirty="0" smtClean="0">
                <a:solidFill>
                  <a:srgbClr val="E8B66A"/>
                </a:solidFill>
                <a:latin typeface="Times New Roman" panose="02020603050405020304" pitchFamily="18" charset="0"/>
                <a:cs typeface="Times New Roman" panose="02020603050405020304" pitchFamily="18" charset="0"/>
              </a:rPr>
              <a:t>.</a:t>
            </a:r>
            <a:r>
              <a:rPr lang="en-US" sz="1500" b="1" dirty="0" smtClean="0">
                <a:solidFill>
                  <a:srgbClr val="E8B66A"/>
                </a:solidFill>
                <a:latin typeface="Times New Roman" panose="02020603050405020304" pitchFamily="18" charset="0"/>
                <a:cs typeface="Times New Roman" panose="02020603050405020304" pitchFamily="18" charset="0"/>
              </a:rPr>
              <a:t>  PAKISTAN</a:t>
            </a:r>
            <a:endParaRPr sz="1500" b="1" dirty="0">
              <a:solidFill>
                <a:srgbClr val="E8B66A"/>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574548" y="1652427"/>
            <a:ext cx="10789920" cy="984885"/>
          </a:xfrm>
          <a:prstGeom prst="rect">
            <a:avLst/>
          </a:prstGeom>
          <a:noFill/>
        </p:spPr>
        <p:txBody>
          <a:bodyPr wrap="square" lIns="0" tIns="0" rIns="0" bIns="0">
            <a:spAutoFit/>
          </a:bodyPr>
          <a:lstStyle/>
          <a:p>
            <a:pPr algn="ctr"/>
            <a:r>
              <a:rPr sz="6400" b="1" dirty="0">
                <a:solidFill>
                  <a:srgbClr val="FFFFFF"/>
                </a:solidFill>
                <a:latin typeface="Times New Roman" panose="02020603050405020304" pitchFamily="18" charset="0"/>
                <a:cs typeface="Times New Roman" panose="02020603050405020304" pitchFamily="18" charset="0"/>
              </a:rPr>
              <a:t>THANK </a:t>
            </a:r>
            <a:r>
              <a:rPr sz="6400" b="1" dirty="0" smtClean="0">
                <a:solidFill>
                  <a:srgbClr val="FFFFFF"/>
                </a:solidFill>
                <a:latin typeface="Times New Roman" panose="02020603050405020304" pitchFamily="18" charset="0"/>
                <a:cs typeface="Times New Roman" panose="02020603050405020304" pitchFamily="18" charset="0"/>
              </a:rPr>
              <a:t>YOU</a:t>
            </a:r>
            <a:r>
              <a:rPr lang="en-US" sz="6400" b="1" dirty="0" smtClean="0">
                <a:solidFill>
                  <a:srgbClr val="FFFFFF"/>
                </a:solidFill>
                <a:latin typeface="Times New Roman" panose="02020603050405020304" pitchFamily="18" charset="0"/>
                <a:cs typeface="Times New Roman" panose="02020603050405020304" pitchFamily="18" charset="0"/>
              </a:rPr>
              <a:t>!</a:t>
            </a:r>
            <a:endParaRPr sz="6400" b="1" dirty="0">
              <a:solidFill>
                <a:srgbClr val="FFFFFF"/>
              </a:solidFill>
              <a:latin typeface="Times New Roman" panose="02020603050405020304" pitchFamily="18" charset="0"/>
              <a:cs typeface="Times New Roman" panose="02020603050405020304" pitchFamily="18" charset="0"/>
            </a:endParaRPr>
          </a:p>
        </p:txBody>
      </p:sp>
      <p:sp>
        <p:nvSpPr>
          <p:cNvPr id="17" name="Rectangle 16"/>
          <p:cNvSpPr/>
          <p:nvPr/>
        </p:nvSpPr>
        <p:spPr>
          <a:xfrm>
            <a:off x="998982" y="3210369"/>
            <a:ext cx="7497318" cy="45719"/>
          </a:xfrm>
          <a:prstGeom prst="rect">
            <a:avLst/>
          </a:prstGeom>
          <a:solidFill>
            <a:srgbClr val="E8B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E8B66A"/>
              </a:solidFill>
            </a:endParaRPr>
          </a:p>
        </p:txBody>
      </p:sp>
      <p:sp>
        <p:nvSpPr>
          <p:cNvPr id="18" name="TextBox 17"/>
          <p:cNvSpPr txBox="1"/>
          <p:nvPr/>
        </p:nvSpPr>
        <p:spPr>
          <a:xfrm>
            <a:off x="2180082" y="3670814"/>
            <a:ext cx="4773168" cy="276999"/>
          </a:xfrm>
          <a:prstGeom prst="rect">
            <a:avLst/>
          </a:prstGeom>
          <a:noFill/>
        </p:spPr>
        <p:txBody>
          <a:bodyPr wrap="square" lIns="0" tIns="0" rIns="0" bIns="0">
            <a:spAutoFit/>
          </a:bodyPr>
          <a:lstStyle/>
          <a:p>
            <a:pPr algn="ctr"/>
            <a:r>
              <a:rPr sz="1800" b="1" dirty="0">
                <a:solidFill>
                  <a:schemeClr val="bg1">
                    <a:lumMod val="85000"/>
                  </a:schemeClr>
                </a:solidFill>
                <a:latin typeface="Times New Roman" panose="02020603050405020304" pitchFamily="18" charset="0"/>
                <a:cs typeface="Times New Roman" panose="02020603050405020304" pitchFamily="18" charset="0"/>
              </a:rPr>
              <a:t>PSLM DATA ANALYSIS  •  </a:t>
            </a:r>
            <a:r>
              <a:rPr lang="en-US" b="1" dirty="0" smtClean="0">
                <a:solidFill>
                  <a:schemeClr val="bg1">
                    <a:lumMod val="85000"/>
                  </a:schemeClr>
                </a:solidFill>
                <a:latin typeface="Times New Roman" panose="02020603050405020304" pitchFamily="18" charset="0"/>
                <a:cs typeface="Times New Roman" panose="02020603050405020304" pitchFamily="18" charset="0"/>
              </a:rPr>
              <a:t>PUNJAB</a:t>
            </a:r>
            <a:r>
              <a:rPr sz="1800" b="1" dirty="0" smtClean="0">
                <a:solidFill>
                  <a:schemeClr val="bg1">
                    <a:lumMod val="85000"/>
                  </a:schemeClr>
                </a:solidFill>
                <a:latin typeface="Times New Roman" panose="02020603050405020304" pitchFamily="18" charset="0"/>
                <a:cs typeface="Times New Roman" panose="02020603050405020304" pitchFamily="18" charset="0"/>
              </a:rPr>
              <a:t> </a:t>
            </a:r>
            <a:r>
              <a:rPr sz="1800" b="1" dirty="0">
                <a:solidFill>
                  <a:schemeClr val="bg1">
                    <a:lumMod val="85000"/>
                  </a:schemeClr>
                </a:solidFill>
                <a:latin typeface="Times New Roman" panose="02020603050405020304" pitchFamily="18" charset="0"/>
                <a:cs typeface="Times New Roman" panose="02020603050405020304" pitchFamily="18" charset="0"/>
              </a:rPr>
              <a:t>RURAL</a:t>
            </a:r>
          </a:p>
        </p:txBody>
      </p:sp>
      <p:sp>
        <p:nvSpPr>
          <p:cNvPr id="19" name="TextBox 18"/>
          <p:cNvSpPr txBox="1"/>
          <p:nvPr/>
        </p:nvSpPr>
        <p:spPr>
          <a:xfrm>
            <a:off x="3018155" y="4174969"/>
            <a:ext cx="3096895" cy="246221"/>
          </a:xfrm>
          <a:prstGeom prst="rect">
            <a:avLst/>
          </a:prstGeom>
          <a:noFill/>
        </p:spPr>
        <p:txBody>
          <a:bodyPr wrap="square" lIns="0" tIns="0" rIns="0" bIns="0">
            <a:spAutoFit/>
          </a:bodyPr>
          <a:lstStyle/>
          <a:p>
            <a:pPr algn="ctr"/>
            <a:r>
              <a:rPr sz="1600" b="0" dirty="0" smtClean="0">
                <a:solidFill>
                  <a:schemeClr val="bg1"/>
                </a:solidFill>
                <a:latin typeface="Times New Roman" panose="02020603050405020304" pitchFamily="18" charset="0"/>
                <a:cs typeface="Times New Roman" panose="02020603050405020304" pitchFamily="18" charset="0"/>
              </a:rPr>
              <a:t>FA24-BEDS-</a:t>
            </a:r>
            <a:r>
              <a:rPr lang="en-US" sz="1600" b="0" dirty="0" smtClean="0">
                <a:solidFill>
                  <a:schemeClr val="bg1"/>
                </a:solidFill>
                <a:latin typeface="Times New Roman" panose="02020603050405020304" pitchFamily="18" charset="0"/>
                <a:cs typeface="Times New Roman" panose="02020603050405020304" pitchFamily="18" charset="0"/>
              </a:rPr>
              <a:t>108</a:t>
            </a:r>
            <a:r>
              <a:rPr sz="1600" b="0" dirty="0" smtClean="0">
                <a:solidFill>
                  <a:schemeClr val="bg1"/>
                </a:solidFill>
                <a:latin typeface="Times New Roman" panose="02020603050405020304" pitchFamily="18" charset="0"/>
                <a:cs typeface="Times New Roman" panose="02020603050405020304" pitchFamily="18" charset="0"/>
              </a:rPr>
              <a:t>   </a:t>
            </a:r>
            <a:r>
              <a:rPr sz="1600" b="0" dirty="0">
                <a:solidFill>
                  <a:schemeClr val="bg1"/>
                </a:solidFill>
                <a:latin typeface="Times New Roman" panose="02020603050405020304" pitchFamily="18" charset="0"/>
                <a:cs typeface="Times New Roman" panose="02020603050405020304" pitchFamily="18" charset="0"/>
              </a:rPr>
              <a:t>|   </a:t>
            </a:r>
            <a:r>
              <a:rPr lang="en-US" sz="1600" dirty="0" smtClean="0">
                <a:solidFill>
                  <a:schemeClr val="bg1"/>
                </a:solidFill>
                <a:latin typeface="Times New Roman" panose="02020603050405020304" pitchFamily="18" charset="0"/>
                <a:cs typeface="Times New Roman" panose="02020603050405020304" pitchFamily="18" charset="0"/>
              </a:rPr>
              <a:t>Meerab Babar</a:t>
            </a:r>
            <a:endParaRPr sz="1600" b="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6829076"/>
      </p:ext>
    </p:extLst>
  </p:cSld>
  <p:clrMapOvr>
    <a:masterClrMapping/>
  </p:clrMapOvr>
  <p:timing>
    <p:tnLst>
      <p:par>
        <p:cTn id="1" dur="indefinite" restart="never" nodeType="tmRoot"/>
      </p:par>
    </p:tnLst>
  </p:timing>
</p:sld>
</file>

<file path=ppt/theme/theme1.xml><?xml version="1.0" encoding="utf-8"?>
<a:theme xmlns:a="http://schemas.openxmlformats.org/drawingml/2006/main" name="ECO346">
  <a:themeElements>
    <a:clrScheme name="ECO346">
      <a:dk1>
        <a:srgbClr val="1B1B1B"/>
      </a:dk1>
      <a:lt1>
        <a:srgbClr val="FFFFFF"/>
      </a:lt1>
      <a:dk2>
        <a:srgbClr val="1F3A5F"/>
      </a:dk2>
      <a:lt2>
        <a:srgbClr val="F3F4F6"/>
      </a:lt2>
      <a:accent1>
        <a:srgbClr val="2C6FAC"/>
      </a:accent1>
      <a:accent2>
        <a:srgbClr val="C0392B"/>
      </a:accent2>
      <a:accent3>
        <a:srgbClr val="6B7280"/>
      </a:accent3>
      <a:accent4>
        <a:srgbClr val="D9DEE5"/>
      </a:accent4>
      <a:accent5>
        <a:srgbClr val="3A7D5C"/>
      </a:accent5>
      <a:accent6>
        <a:srgbClr val="B8860B"/>
      </a:accent6>
      <a:hlink>
        <a:srgbClr val="2C6FAC"/>
      </a:hlink>
      <a:folHlink>
        <a:srgbClr val="6B7280"/>
      </a:folHlink>
    </a:clrScheme>
    <a:fontScheme name="ECO346">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683</Words>
  <Application>Microsoft Office PowerPoint</Application>
  <PresentationFormat>On-screen Show (16:9)</PresentationFormat>
  <Paragraphs>41</Paragraphs>
  <Slides>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Georgia</vt:lpstr>
      <vt:lpstr>Times New Roman</vt:lpstr>
      <vt:lpstr>ECO346</vt:lpstr>
      <vt:lpstr>PowerPoint Presentation</vt:lpstr>
      <vt:lpstr>Most households spend Rs 2,000 to Rs 30,000 a year on one student</vt:lpstr>
      <vt:lpstr>The makeover: from a cloud of dots to a clear story</vt:lpstr>
      <vt:lpstr>Women and men start almost equal, then the gap grows with age</vt:lpstr>
      <vt:lpstr>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Laptop Solutions</cp:lastModifiedBy>
  <cp:revision>15</cp:revision>
  <dcterms:created xsi:type="dcterms:W3CDTF">2026-10-23T12:36:13Z</dcterms:created>
  <dcterms:modified xsi:type="dcterms:W3CDTF">2026-10-23T15:00:35Z</dcterms:modified>
</cp:coreProperties>
</file>